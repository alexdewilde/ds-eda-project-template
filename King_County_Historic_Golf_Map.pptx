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CF2F6"/>
                </a:solidFill>
                <a:latin typeface="Calibri"/>
              </a:rPr>
              <a:t>King County, WA — Historic Areas with Golf Courses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3A6B3"/>
                </a:solidFill>
                <a:latin typeface="Calibri"/>
              </a:rPr>
              <a:t>Interactive course map paired with nearby historic ZIP codes — pin numbers are Google ratings.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" y="1362456"/>
            <a:ext cx="4842405" cy="5047488"/>
          </a:xfrm>
          <a:prstGeom prst="roundRect">
            <a:avLst>
              <a:gd name="adj" fmla="val 3000"/>
            </a:avLst>
          </a:prstGeom>
          <a:solidFill>
            <a:srgbClr val="1A2A38"/>
          </a:solidFill>
          <a:ln w="12700">
            <a:solidFill>
              <a:srgbClr val="354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781787384437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4732677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64808"/>
            <a:ext cx="473267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3A6B3"/>
                </a:solidFill>
                <a:latin typeface="Calibri"/>
              </a:rPr>
              <a:t>Screenshot: Google Maps · pin = average golfer rating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84237" y="1362456"/>
            <a:ext cx="5950257" cy="5047488"/>
          </a:xfrm>
          <a:prstGeom prst="roundRect">
            <a:avLst>
              <a:gd name="adj" fmla="val 3500"/>
            </a:avLst>
          </a:prstGeom>
          <a:solidFill>
            <a:srgbClr val="1A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95133" y="1554480"/>
            <a:ext cx="146304" cy="146304"/>
          </a:xfrm>
          <a:prstGeom prst="ellipse">
            <a:avLst/>
          </a:prstGeom>
          <a:solidFill>
            <a:srgbClr val="5BB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1165" y="1527048"/>
            <a:ext cx="507243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BB87A"/>
                </a:solidFill>
                <a:latin typeface="Calibri"/>
              </a:rPr>
              <a:t>SEATTLE (IN-CITY)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133" y="1837943"/>
            <a:ext cx="453293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ECF2F6"/>
                </a:solidFill>
                <a:latin typeface="Calibri"/>
              </a:rPr>
              <a:t>Interbay Golf Center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3A6B3"/>
                </a:solidFill>
                <a:latin typeface="Calibri"/>
              </a:rPr>
              <a:t>98107 · Ballard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56671" y="1856231"/>
            <a:ext cx="566928" cy="310896"/>
          </a:xfrm>
          <a:prstGeom prst="roundRect">
            <a:avLst>
              <a:gd name="adj" fmla="val 35000"/>
            </a:avLst>
          </a:prstGeom>
          <a:solidFill>
            <a:srgbClr val="253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ECF2F6"/>
                </a:solidFill>
                <a:latin typeface="Calibri"/>
              </a:rPr>
              <a:t>4.5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133" y="2249424"/>
            <a:ext cx="453293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ECF2F6"/>
                </a:solidFill>
                <a:latin typeface="Calibri"/>
              </a:rPr>
              <a:t>Jackson Park Golf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3A6B3"/>
                </a:solidFill>
                <a:latin typeface="Calibri"/>
              </a:rPr>
              <a:t>98125 · Maple Leaf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56671" y="2267712"/>
            <a:ext cx="566928" cy="310896"/>
          </a:xfrm>
          <a:prstGeom prst="roundRect">
            <a:avLst>
              <a:gd name="adj" fmla="val 35000"/>
            </a:avLst>
          </a:prstGeom>
          <a:solidFill>
            <a:srgbClr val="253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ECF2F6"/>
                </a:solidFill>
                <a:latin typeface="Calibri"/>
              </a:rPr>
              <a:t>4.1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133" y="2660904"/>
            <a:ext cx="453293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ECF2F6"/>
                </a:solidFill>
                <a:latin typeface="Calibri"/>
              </a:rPr>
              <a:t>Bill Wright (Jefferson Park)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3A6B3"/>
                </a:solidFill>
                <a:latin typeface="Calibri"/>
              </a:rPr>
              <a:t>98108/98118/98144 · Columbia City · Beacon Hill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56671" y="2679192"/>
            <a:ext cx="566928" cy="310896"/>
          </a:xfrm>
          <a:prstGeom prst="roundRect">
            <a:avLst>
              <a:gd name="adj" fmla="val 35000"/>
            </a:avLst>
          </a:prstGeom>
          <a:solidFill>
            <a:srgbClr val="253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ECF2F6"/>
                </a:solidFill>
                <a:latin typeface="Calibri"/>
              </a:rPr>
              <a:t>4.3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133" y="3072384"/>
            <a:ext cx="453293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ECF2F6"/>
                </a:solidFill>
                <a:latin typeface="Calibri"/>
              </a:rPr>
              <a:t>West Seattle Golf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3A6B3"/>
                </a:solidFill>
                <a:latin typeface="Calibri"/>
              </a:rPr>
              <a:t>98116/98126 · Admiral · Alki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56671" y="3090672"/>
            <a:ext cx="566928" cy="310896"/>
          </a:xfrm>
          <a:prstGeom prst="roundRect">
            <a:avLst>
              <a:gd name="adj" fmla="val 35000"/>
            </a:avLst>
          </a:prstGeom>
          <a:solidFill>
            <a:srgbClr val="253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ECF2F6"/>
                </a:solidFill>
                <a:latin typeface="Calibri"/>
              </a:rPr>
              <a:t>4.2</a:t>
            </a:r>
          </a:p>
        </p:txBody>
      </p:sp>
      <p:sp>
        <p:nvSpPr>
          <p:cNvPr id="18" name="Oval 17"/>
          <p:cNvSpPr/>
          <p:nvPr/>
        </p:nvSpPr>
        <p:spPr>
          <a:xfrm>
            <a:off x="6095133" y="3621024"/>
            <a:ext cx="146304" cy="146304"/>
          </a:xfrm>
          <a:prstGeom prst="ellipse">
            <a:avLst/>
          </a:prstGeom>
          <a:solidFill>
            <a:srgbClr val="3FA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1165" y="3593592"/>
            <a:ext cx="507243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FA7C4"/>
                </a:solidFill>
                <a:latin typeface="Calibri"/>
              </a:rPr>
              <a:t>EASTSIDE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5133" y="3904488"/>
            <a:ext cx="453293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ECF2F6"/>
                </a:solidFill>
                <a:latin typeface="Calibri"/>
              </a:rPr>
              <a:t>Inglewood Golf Club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3A6B3"/>
                </a:solidFill>
                <a:latin typeface="Calibri"/>
              </a:rPr>
              <a:t>98028 · Kenmore  (nr Bothell 98011)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56671" y="3922776"/>
            <a:ext cx="566928" cy="310896"/>
          </a:xfrm>
          <a:prstGeom prst="roundRect">
            <a:avLst>
              <a:gd name="adj" fmla="val 35000"/>
            </a:avLst>
          </a:prstGeom>
          <a:solidFill>
            <a:srgbClr val="253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ECF2F6"/>
                </a:solidFill>
                <a:latin typeface="Calibri"/>
              </a:rPr>
              <a:t>4.6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5133" y="4315968"/>
            <a:ext cx="453293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ECF2F6"/>
                </a:solidFill>
                <a:latin typeface="Calibri"/>
              </a:rPr>
              <a:t>Bellevue Golf Course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3A6B3"/>
                </a:solidFill>
                <a:latin typeface="Calibri"/>
              </a:rPr>
              <a:t>98005 · Bellevue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856671" y="4334256"/>
            <a:ext cx="566928" cy="310896"/>
          </a:xfrm>
          <a:prstGeom prst="roundRect">
            <a:avLst>
              <a:gd name="adj" fmla="val 35000"/>
            </a:avLst>
          </a:prstGeom>
          <a:solidFill>
            <a:srgbClr val="253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ECF2F6"/>
                </a:solidFill>
                <a:latin typeface="Calibri"/>
              </a:rPr>
              <a:t>4.4</a:t>
            </a:r>
          </a:p>
        </p:txBody>
      </p:sp>
      <p:sp>
        <p:nvSpPr>
          <p:cNvPr id="24" name="Oval 23"/>
          <p:cNvSpPr/>
          <p:nvPr/>
        </p:nvSpPr>
        <p:spPr>
          <a:xfrm>
            <a:off x="6095133" y="4864608"/>
            <a:ext cx="146304" cy="146304"/>
          </a:xfrm>
          <a:prstGeom prst="ellipse">
            <a:avLst/>
          </a:prstGeom>
          <a:solidFill>
            <a:srgbClr val="D79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1165" y="4837176"/>
            <a:ext cx="507243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7913F"/>
                </a:solidFill>
                <a:latin typeface="Calibri"/>
              </a:rPr>
              <a:t>OUTLYING HISTORIC TOWNS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5133" y="5148072"/>
            <a:ext cx="453293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ECF2F6"/>
                </a:solidFill>
                <a:latin typeface="Calibri"/>
              </a:rPr>
              <a:t>Mount Si Golf Course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3A6B3"/>
                </a:solidFill>
                <a:latin typeface="Calibri"/>
              </a:rPr>
              <a:t>98065 · Snoqualmie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56671" y="5166360"/>
            <a:ext cx="566928" cy="310896"/>
          </a:xfrm>
          <a:prstGeom prst="roundRect">
            <a:avLst>
              <a:gd name="adj" fmla="val 35000"/>
            </a:avLst>
          </a:prstGeom>
          <a:solidFill>
            <a:srgbClr val="253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ECF2F6"/>
                </a:solidFill>
                <a:latin typeface="Calibri"/>
              </a:rPr>
              <a:t>4.3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5133" y="5559552"/>
            <a:ext cx="453293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ECF2F6"/>
                </a:solidFill>
                <a:latin typeface="Calibri"/>
              </a:rPr>
              <a:t>Lake Wilderness Golf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3A6B3"/>
                </a:solidFill>
                <a:latin typeface="Calibri"/>
              </a:rPr>
              <a:t>Maple Valley 98038  (nr Black Diamond 98010)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856671" y="5577840"/>
            <a:ext cx="566928" cy="310896"/>
          </a:xfrm>
          <a:prstGeom prst="roundRect">
            <a:avLst>
              <a:gd name="adj" fmla="val 35000"/>
            </a:avLst>
          </a:prstGeom>
          <a:solidFill>
            <a:srgbClr val="253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ECF2F6"/>
                </a:solidFill>
                <a:latin typeface="Calibri"/>
              </a:rPr>
              <a:t>4.0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5133" y="5971032"/>
            <a:ext cx="453293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ECF2F6"/>
                </a:solidFill>
                <a:latin typeface="Calibri"/>
              </a:rPr>
              <a:t>Enumclaw Golf Course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3A6B3"/>
                </a:solidFill>
                <a:latin typeface="Calibri"/>
              </a:rPr>
              <a:t>98022 · Enumclaw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856671" y="5989320"/>
            <a:ext cx="566928" cy="310896"/>
          </a:xfrm>
          <a:prstGeom prst="roundRect">
            <a:avLst>
              <a:gd name="adj" fmla="val 35000"/>
            </a:avLst>
          </a:prstGeom>
          <a:solidFill>
            <a:srgbClr val="253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ECF2F6"/>
                </a:solidFill>
                <a:latin typeface="Calibri"/>
              </a:rPr>
              <a:t>4.1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